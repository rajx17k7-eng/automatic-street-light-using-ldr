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AUTOMATIC STREET LIGHT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USING LDR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D7E8F1"/>
                </a:solidFill>
                <a:latin typeface="Aptos"/>
              </a:defRPr>
            </a:pPr>
            <a:r>
              <a:t>A simple light-sensitive transistor switching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Electronic Devices and Circuits | ECE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Name: ____________________   Register No.: 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D0DE"/>
                </a:solidFill>
                <a:latin typeface="Aptos"/>
              </a:defRPr>
            </a:pPr>
            <a:r>
              <a:t>Simple low-cost light-sensing automation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An automatic street light switches ON when the surroundings become dark.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It switches OFF when sufficient light falls on the sensor.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The circuit uses an LDR, a transistor, resistors and an LED.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It demonstrates sensing and electronic switching.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2. Aim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Aim: To design and simulate an automatic street-light circuit using an LDR.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Detect changes in ambient light using the LDR.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Use an NPN transistor as an electronic switch.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Reduce unnecessary lighting during daytime.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3. Components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LDR (light-dependent resistor) — senses light intensity.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NPN transistor (for example, 2N2222) — switches the LED.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Resistors: 10 kΩ for the sensor divider/base path and 220 Ω for LED current limiting.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LED, 5 V DC supply, breadboard and connecting wires.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69A0"/>
                </a:solidFill>
                <a:latin typeface="Aptos"/>
              </a:defRPr>
            </a:pPr>
            <a:r>
              <a:t>Use the exact component names available in the Tinkercad component panel.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4. Circuit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Connect +5 V to a 10 kΩ resistor; connect its other end to the BASE node.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Connect the LDR between the BASE node and GND.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Connect the transistor EMITTER to GND.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Connect +5 V → 220 Ω resistor → LED anode; LED cathode → transistor COLLECTOR.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Keep all grounds connected to the same GND 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69A0"/>
                </a:solidFill>
                <a:latin typeface="Aptos"/>
              </a:defRPr>
            </a:pPr>
            <a:r>
              <a:t>Check the transistor pinout in Tinkercad before wiring; pin order depends on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5. Circuit Diagram (conceptual)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011680" cy="594360"/>
          </a:xfrm>
          <a:prstGeom prst="roundRect">
            <a:avLst/>
          </a:prstGeom>
          <a:solidFill>
            <a:srgbClr val="E0F1F7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304F"/>
                </a:solidFill>
              </a:defRPr>
            </a:pPr>
            <a:r>
              <a:t>+5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011680" cy="594360"/>
          </a:xfrm>
          <a:prstGeom prst="roundRect">
            <a:avLst/>
          </a:prstGeom>
          <a:solidFill>
            <a:srgbClr val="FFF6DC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4304F"/>
                </a:solidFill>
              </a:defRPr>
            </a:pPr>
            <a:r>
              <a:t>220 Ω + 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2103120" cy="594360"/>
          </a:xfrm>
          <a:prstGeom prst="roundRect">
            <a:avLst/>
          </a:prstGeom>
          <a:solidFill>
            <a:srgbClr val="E0F1F7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4304F"/>
                </a:solidFill>
              </a:defRPr>
            </a:pPr>
            <a:r>
              <a:t>NPN transistor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143000"/>
            <a:ext cx="2011680" cy="594360"/>
          </a:xfrm>
          <a:prstGeom prst="roundRect">
            <a:avLst/>
          </a:prstGeom>
          <a:solidFill>
            <a:srgbClr val="EEF1F4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304F"/>
                </a:solidFill>
              </a:defRPr>
            </a:pPr>
            <a:r>
              <a:t>GND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444752"/>
            <a:ext cx="502920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57800" y="1444752"/>
            <a:ext cx="1143000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444752"/>
            <a:ext cx="960120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2880360"/>
            <a:ext cx="2103120" cy="685800"/>
          </a:xfrm>
          <a:prstGeom prst="roundRect">
            <a:avLst/>
          </a:prstGeom>
          <a:solidFill>
            <a:srgbClr val="EFF6FA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4304F"/>
                </a:solidFill>
              </a:defRPr>
            </a:pPr>
            <a:r>
              <a:t>10 kΩ resistor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880360"/>
            <a:ext cx="2103120" cy="685800"/>
          </a:xfrm>
          <a:prstGeom prst="roundRect">
            <a:avLst/>
          </a:prstGeom>
          <a:solidFill>
            <a:srgbClr val="E0F1F7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4304F"/>
                </a:solidFill>
              </a:defRPr>
            </a:pPr>
            <a:r>
              <a:t>BASE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880360"/>
            <a:ext cx="2103120" cy="685800"/>
          </a:xfrm>
          <a:prstGeom prst="roundRect">
            <a:avLst/>
          </a:prstGeom>
          <a:solidFill>
            <a:srgbClr val="FFF6DC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304F"/>
                </a:solidFill>
              </a:defRPr>
            </a:pPr>
            <a:r>
              <a:t>LDR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1737360"/>
            <a:ext cx="0" cy="114300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3227832"/>
            <a:ext cx="777240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26679" y="3227832"/>
            <a:ext cx="777241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09160" y="4434840"/>
            <a:ext cx="3017520" cy="640080"/>
          </a:xfrm>
          <a:prstGeom prst="roundRect">
            <a:avLst/>
          </a:prstGeom>
          <a:solidFill>
            <a:srgbClr val="EEF1F4"/>
          </a:solidFill>
          <a:ln>
            <a:solidFill>
              <a:srgbClr val="2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4304F"/>
                </a:solidFill>
              </a:defRPr>
            </a:pPr>
            <a:r>
              <a:t>GND (common)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55480" y="3566160"/>
            <a:ext cx="0" cy="118872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26679" y="4754880"/>
            <a:ext cx="1828801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79" y="4754880"/>
            <a:ext cx="0" cy="0"/>
          </a:xfrm>
          <a:prstGeom prst="line">
            <a:avLst/>
          </a:prstGeom>
          <a:ln w="28575">
            <a:solidFill>
              <a:srgbClr val="16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3C"/>
                </a:solidFill>
                <a:latin typeface="Aptos"/>
              </a:defRPr>
            </a:pPr>
            <a:r>
              <a:t>Concept: the LDR connects from the base node to ground. In darkness its resistance rises, allowing the base node to rise and turn the transistor 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6. 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An LDR has lower resistance in bright light and higher resistance in darkness.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In daylight, the LDR pulls the base node low; the transistor remains OFF and the LED is OFF.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In darkness, the LDR resistance increases; the base node rises through the 10 kΩ resistor.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The transistor turns ON and current flows through the LED, so it lights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7. Software Simulation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Open tinkercad.com and sign in; select Circuits → Create new Circuit.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Place an LDR, NPN transistor, LED, resistors and a 5 V supply.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Wire the circuit using the connection list and check transistor pinout.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Start Simulation and change the LDR light level if the component supports it.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Observe the LED in bright and dark conditions; capture screenshots for the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8. Applications, 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Applications: streetlights, garden lights, pathway lights and automatic night lamps.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Advantages: simple, low cost, automatic operation and easy maintenance.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Limitations: sensor response can be affected by shadows, dust and nearby lights.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A practical outdoor system may need a relay/driver stage and weatherproof housing.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9. Result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The proposed circuit demonstrates automatic LED switching based on ambient light.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Bright condition: transistor OFF and LED OFF.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Dark condition: transistor ON and LED ON.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The project explains LDR characteristics and the use of a transistor as a switch.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69A0"/>
                </a:solidFill>
                <a:latin typeface="Aptos"/>
              </a:defRPr>
            </a:pPr>
            <a:r>
              <a:t>Report actual simulation observations; add your own Tinkercad screenshots before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10.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Tinkercad Circuits — https://www.tinkercad.com/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Electronic Devices and Circuits class notes: LDR characteristics and transistor switching.</a:t>
            </a:r>
          </a:p>
          <a:p>
            <a:pPr>
              <a:spcAft>
                <a:spcPts val="18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•  Component datasheets for the selected LDR and NPN transistor.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69A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2769A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